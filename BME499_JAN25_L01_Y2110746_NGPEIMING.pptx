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1396325" cy="30267275"/>
  <p:notesSz cx="6858000" cy="919956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7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7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7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7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3">
          <p15:clr>
            <a:srgbClr val="A4A3A4"/>
          </p15:clr>
        </p15:guide>
        <p15:guide id="2" pos="67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A70B"/>
    <a:srgbClr val="99FF99"/>
    <a:srgbClr val="56B947"/>
    <a:srgbClr val="686300"/>
    <a:srgbClr val="890018"/>
    <a:srgbClr val="660033"/>
    <a:srgbClr val="FF0066"/>
    <a:srgbClr val="FF6600"/>
    <a:srgbClr val="FF541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100" autoAdjust="0"/>
    <p:restoredTop sz="93690" autoAdjust="0"/>
  </p:normalViewPr>
  <p:slideViewPr>
    <p:cSldViewPr snapToGrid="0">
      <p:cViewPr>
        <p:scale>
          <a:sx n="50" d="100"/>
          <a:sy n="50" d="100"/>
        </p:scale>
        <p:origin x="156" y="-760"/>
      </p:cViewPr>
      <p:guideLst>
        <p:guide orient="horz" pos="9533"/>
        <p:guide pos="67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2FAFF-E9B1-467F-B0AD-C8B28AEAA8D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2038" y="1149350"/>
            <a:ext cx="2193925" cy="3105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7538"/>
            <a:ext cx="5486400" cy="36226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3760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37600"/>
            <a:ext cx="29718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7FBEE-E569-449F-9E01-77BA5AFA1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9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highlight>
                  <a:srgbClr val="FFFF00"/>
                </a:highlight>
              </a:rPr>
              <a:t>Note: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dirty="0">
                <a:highlight>
                  <a:srgbClr val="FFFF00"/>
                </a:highlight>
              </a:rPr>
              <a:t>Do not change the format and color of the poster.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dirty="0">
                <a:highlight>
                  <a:srgbClr val="FFFF00"/>
                </a:highlight>
              </a:rPr>
              <a:t>Upload your poster at Canvas &gt; Assignments&gt; Poster.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dirty="0">
                <a:highlight>
                  <a:srgbClr val="FFFF00"/>
                </a:highlight>
              </a:rPr>
              <a:t>Print the poster in A1 sized on PP Paper (with no backboard) and bring on Oral Presentation day.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57FBEE-E569-449F-9E01-77BA5AFA1C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46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963" y="9402763"/>
            <a:ext cx="18186400" cy="64881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925" y="17151350"/>
            <a:ext cx="14976475" cy="77343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0B4CF-E02F-4F94-B486-27DF6A23BB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EB514-2449-4220-BE26-387AA285CD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688" y="19450050"/>
            <a:ext cx="18186400" cy="60102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688" y="12828588"/>
            <a:ext cx="18186400" cy="662146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022CBA-84B2-43D1-A342-D8296429DC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975" y="7062788"/>
            <a:ext cx="9551988" cy="1997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74363" y="7062788"/>
            <a:ext cx="9551987" cy="1997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CE30F9-99DD-4F86-81AD-F48870E32D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12850"/>
            <a:ext cx="19256375" cy="50434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975" y="6775450"/>
            <a:ext cx="9453563" cy="2822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975" y="9598025"/>
            <a:ext cx="9453563" cy="17438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9613" y="6775450"/>
            <a:ext cx="9456737" cy="2822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9613" y="9598025"/>
            <a:ext cx="9456737" cy="17438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87878D-F988-4848-AA45-C929FDAB9D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2C985-11F3-441B-954D-869AD9D223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0FE02-E171-4751-8F5A-73EF93CBEF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5" y="1204913"/>
            <a:ext cx="7038975" cy="51292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125" y="1204913"/>
            <a:ext cx="11960225" cy="25831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975" y="6334125"/>
            <a:ext cx="7038975" cy="207025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C97581-3514-4BBE-B420-D41C6D1C40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175" y="21186775"/>
            <a:ext cx="12838113" cy="2501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4175" y="2705100"/>
            <a:ext cx="12838113" cy="181594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4175" y="23688675"/>
            <a:ext cx="12838113" cy="35512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9A0C7-E663-450D-A6AB-13B559B5CC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69A50-980A-47FC-A612-A5AD96A55E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3050" y="1212850"/>
            <a:ext cx="4813300" cy="258238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9975" y="1212850"/>
            <a:ext cx="14290675" cy="25823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5227B-19FC-4D81-8B20-7DB2024BF3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9975" y="1212850"/>
            <a:ext cx="19256375" cy="504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09052" tIns="104526" rIns="209052" bIns="10452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9975" y="7062788"/>
            <a:ext cx="19256375" cy="1997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09052" tIns="104526" rIns="209052" bIns="1045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9975" y="27565350"/>
            <a:ext cx="4992688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9052" tIns="104526" rIns="209052" bIns="104526" numCol="1" anchor="t" anchorCtr="0" compatLnSpc="1">
            <a:prstTxWarp prst="textNoShape">
              <a:avLst/>
            </a:prstTxWarp>
          </a:bodyPr>
          <a:lstStyle>
            <a:lvl1pPr algn="l">
              <a:defRPr sz="3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310438" y="27565350"/>
            <a:ext cx="6775450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9052" tIns="104526" rIns="209052" bIns="104526" numCol="1" anchor="t" anchorCtr="0" compatLnSpc="1">
            <a:prstTxWarp prst="textNoShape">
              <a:avLst/>
            </a:prstTxWarp>
          </a:bodyPr>
          <a:lstStyle>
            <a:lvl1pPr>
              <a:defRPr sz="3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333663" y="27565350"/>
            <a:ext cx="4992687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9052" tIns="104526" rIns="209052" bIns="104526" numCol="1" anchor="t" anchorCtr="0" compatLnSpc="1">
            <a:prstTxWarp prst="textNoShape">
              <a:avLst/>
            </a:prstTxWarp>
          </a:bodyPr>
          <a:lstStyle>
            <a:lvl1pPr algn="r">
              <a:defRPr sz="3100"/>
            </a:lvl1pPr>
          </a:lstStyle>
          <a:p>
            <a:pPr>
              <a:defRPr/>
            </a:pPr>
            <a:fld id="{3A648A50-D379-4E94-9092-37F4E5742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087563" rtl="0" eaLnBrk="0" fontAlgn="base" hangingPunct="0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2087563" rtl="0" eaLnBrk="0" fontAlgn="base" hangingPunct="0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2pPr>
      <a:lvl3pPr algn="ctr" defTabSz="2087563" rtl="0" eaLnBrk="0" fontAlgn="base" hangingPunct="0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3pPr>
      <a:lvl4pPr algn="ctr" defTabSz="2087563" rtl="0" eaLnBrk="0" fontAlgn="base" hangingPunct="0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4pPr>
      <a:lvl5pPr algn="ctr" defTabSz="2087563" rtl="0" eaLnBrk="0" fontAlgn="base" hangingPunct="0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5pPr>
      <a:lvl6pPr marL="457200" algn="ctr" defTabSz="2087563" rtl="0" fontAlgn="base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6pPr>
      <a:lvl7pPr marL="914400" algn="ctr" defTabSz="2087563" rtl="0" fontAlgn="base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7pPr>
      <a:lvl8pPr marL="1371600" algn="ctr" defTabSz="2087563" rtl="0" fontAlgn="base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8pPr>
      <a:lvl9pPr marL="1828800" algn="ctr" defTabSz="2087563" rtl="0" fontAlgn="base">
        <a:spcBef>
          <a:spcPct val="0"/>
        </a:spcBef>
        <a:spcAft>
          <a:spcPct val="0"/>
        </a:spcAft>
        <a:defRPr sz="10200">
          <a:solidFill>
            <a:schemeClr val="tx2"/>
          </a:solidFill>
          <a:latin typeface="Arial" charset="0"/>
        </a:defRPr>
      </a:lvl9pPr>
    </p:titleStyle>
    <p:bodyStyle>
      <a:lvl1pPr marL="782638" indent="-782638" algn="l" defTabSz="2087563" rtl="0" eaLnBrk="0" fontAlgn="base" hangingPunct="0">
        <a:spcBef>
          <a:spcPct val="20000"/>
        </a:spcBef>
        <a:spcAft>
          <a:spcPct val="0"/>
        </a:spcAft>
        <a:buChar char="•"/>
        <a:defRPr sz="7400">
          <a:solidFill>
            <a:schemeClr val="tx1"/>
          </a:solidFill>
          <a:latin typeface="+mn-lt"/>
          <a:ea typeface="+mn-ea"/>
          <a:cs typeface="+mn-cs"/>
        </a:defRPr>
      </a:lvl1pPr>
      <a:lvl2pPr marL="1697038" indent="-649288" algn="l" defTabSz="2087563" rtl="0" eaLnBrk="0" fontAlgn="base" hangingPunct="0">
        <a:spcBef>
          <a:spcPct val="20000"/>
        </a:spcBef>
        <a:spcAft>
          <a:spcPct val="0"/>
        </a:spcAft>
        <a:buChar char="–"/>
        <a:defRPr sz="6400">
          <a:solidFill>
            <a:schemeClr val="tx1"/>
          </a:solidFill>
          <a:latin typeface="+mn-lt"/>
        </a:defRPr>
      </a:lvl2pPr>
      <a:lvl3pPr marL="2613025" indent="-525463" algn="l" defTabSz="2087563" rtl="0" eaLnBrk="0" fontAlgn="base" hangingPunct="0">
        <a:spcBef>
          <a:spcPct val="20000"/>
        </a:spcBef>
        <a:spcAft>
          <a:spcPct val="0"/>
        </a:spcAft>
        <a:buChar char="•"/>
        <a:defRPr sz="5500">
          <a:solidFill>
            <a:schemeClr val="tx1"/>
          </a:solidFill>
          <a:latin typeface="+mn-lt"/>
        </a:defRPr>
      </a:lvl3pPr>
      <a:lvl4pPr marL="3659188" indent="-523875" algn="l" defTabSz="2087563" rtl="0" eaLnBrk="0" fontAlgn="base" hangingPunct="0">
        <a:spcBef>
          <a:spcPct val="20000"/>
        </a:spcBef>
        <a:spcAft>
          <a:spcPct val="0"/>
        </a:spcAft>
        <a:buChar char="–"/>
        <a:defRPr sz="4600">
          <a:solidFill>
            <a:schemeClr val="tx1"/>
          </a:solidFill>
          <a:latin typeface="+mn-lt"/>
        </a:defRPr>
      </a:lvl4pPr>
      <a:lvl5pPr marL="4700588" indent="-517525" algn="l" defTabSz="2087563" rtl="0" eaLnBrk="0" fontAlgn="base" hangingPunct="0">
        <a:spcBef>
          <a:spcPct val="20000"/>
        </a:spcBef>
        <a:spcAft>
          <a:spcPct val="0"/>
        </a:spcAft>
        <a:buChar char="»"/>
        <a:defRPr sz="4600">
          <a:solidFill>
            <a:schemeClr val="tx1"/>
          </a:solidFill>
          <a:latin typeface="+mn-lt"/>
        </a:defRPr>
      </a:lvl5pPr>
      <a:lvl6pPr marL="5157788" indent="-517525" algn="l" defTabSz="2087563" rtl="0" fontAlgn="base">
        <a:spcBef>
          <a:spcPct val="20000"/>
        </a:spcBef>
        <a:spcAft>
          <a:spcPct val="0"/>
        </a:spcAft>
        <a:buChar char="»"/>
        <a:defRPr sz="4600">
          <a:solidFill>
            <a:schemeClr val="tx1"/>
          </a:solidFill>
          <a:latin typeface="+mn-lt"/>
        </a:defRPr>
      </a:lvl6pPr>
      <a:lvl7pPr marL="5614988" indent="-517525" algn="l" defTabSz="2087563" rtl="0" fontAlgn="base">
        <a:spcBef>
          <a:spcPct val="20000"/>
        </a:spcBef>
        <a:spcAft>
          <a:spcPct val="0"/>
        </a:spcAft>
        <a:buChar char="»"/>
        <a:defRPr sz="4600">
          <a:solidFill>
            <a:schemeClr val="tx1"/>
          </a:solidFill>
          <a:latin typeface="+mn-lt"/>
        </a:defRPr>
      </a:lvl7pPr>
      <a:lvl8pPr marL="6072188" indent="-517525" algn="l" defTabSz="2087563" rtl="0" fontAlgn="base">
        <a:spcBef>
          <a:spcPct val="20000"/>
        </a:spcBef>
        <a:spcAft>
          <a:spcPct val="0"/>
        </a:spcAft>
        <a:buChar char="»"/>
        <a:defRPr sz="4600">
          <a:solidFill>
            <a:schemeClr val="tx1"/>
          </a:solidFill>
          <a:latin typeface="+mn-lt"/>
        </a:defRPr>
      </a:lvl8pPr>
      <a:lvl9pPr marL="6529388" indent="-517525" algn="l" defTabSz="2087563" rtl="0" fontAlgn="base">
        <a:spcBef>
          <a:spcPct val="20000"/>
        </a:spcBef>
        <a:spcAft>
          <a:spcPct val="0"/>
        </a:spcAft>
        <a:buChar char="»"/>
        <a:defRPr sz="4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hyperlink" Target="https://doi.org/10.1038/s41586-023-06592-6" TargetMode="Externa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jp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hyperlink" Target="https://pmc.ncbi.nlm.nih.gov/articles/PMC6686613/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Rectangle 2303">
            <a:extLst>
              <a:ext uri="{FF2B5EF4-FFF2-40B4-BE49-F238E27FC236}">
                <a16:creationId xmlns:a16="http://schemas.microsoft.com/office/drawing/2014/main" id="{56AB1602-8D85-DE1C-1DAC-F3C28344695E}"/>
              </a:ext>
            </a:extLst>
          </p:cNvPr>
          <p:cNvSpPr/>
          <p:nvPr/>
        </p:nvSpPr>
        <p:spPr bwMode="auto">
          <a:xfrm>
            <a:off x="1436687" y="13530865"/>
            <a:ext cx="6740525" cy="1148311"/>
          </a:xfrm>
          <a:prstGeom prst="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50" name="Rectangle 288"/>
          <p:cNvSpPr>
            <a:spLocks noChangeArrowheads="1"/>
          </p:cNvSpPr>
          <p:nvPr/>
        </p:nvSpPr>
        <p:spPr bwMode="auto">
          <a:xfrm>
            <a:off x="936625" y="1076325"/>
            <a:ext cx="19443700" cy="27798713"/>
          </a:xfrm>
          <a:prstGeom prst="rect">
            <a:avLst/>
          </a:prstGeom>
          <a:noFill/>
          <a:ln w="47625" cmpd="dbl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1" name="Text Box 294"/>
          <p:cNvSpPr txBox="1">
            <a:spLocks noChangeArrowheads="1"/>
          </p:cNvSpPr>
          <p:nvPr/>
        </p:nvSpPr>
        <p:spPr bwMode="auto">
          <a:xfrm>
            <a:off x="997122" y="1137610"/>
            <a:ext cx="19329728" cy="4497365"/>
          </a:xfrm>
          <a:prstGeom prst="rect">
            <a:avLst/>
          </a:prstGeom>
          <a:solidFill>
            <a:srgbClr val="64A70B"/>
          </a:solidFill>
          <a:ln w="76200">
            <a:solidFill>
              <a:srgbClr val="64A70B"/>
            </a:solidFill>
            <a:miter lim="800000"/>
            <a:headEnd/>
            <a:tailEnd/>
          </a:ln>
        </p:spPr>
        <p:txBody>
          <a:bodyPr wrap="square" lIns="64753" tIns="32375" rIns="64753" bIns="32375">
            <a:spAutoFit/>
          </a:bodyPr>
          <a:lstStyle/>
          <a:p>
            <a:r>
              <a:rPr lang="en-US" sz="6800" b="1" cap="all" dirty="0">
                <a:solidFill>
                  <a:schemeClr val="bg1"/>
                </a:solidFill>
              </a:rPr>
              <a:t>Disentangling the functions and pathways from the genetic associated with plasma proteomics</a:t>
            </a:r>
            <a:endParaRPr lang="en-US" sz="1400" b="1" dirty="0">
              <a:solidFill>
                <a:schemeClr val="bg1"/>
              </a:solidFill>
            </a:endParaRPr>
          </a:p>
          <a:p>
            <a:pPr defTabSz="2087563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 Pei Ming (PI: Y2110746)</a:t>
            </a:r>
          </a:p>
          <a:p>
            <a:pPr defTabSz="2087563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Supervisor: Prof. Pan Hong</a:t>
            </a:r>
            <a:endParaRPr lang="en-US" sz="2800" b="1" baseline="30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defTabSz="2087563"/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Code: BME499_JAN25</a:t>
            </a:r>
          </a:p>
        </p:txBody>
      </p:sp>
      <p:grpSp>
        <p:nvGrpSpPr>
          <p:cNvPr id="2053" name="Group 1858"/>
          <p:cNvGrpSpPr>
            <a:grpSpLocks/>
          </p:cNvGrpSpPr>
          <p:nvPr/>
        </p:nvGrpSpPr>
        <p:grpSpPr bwMode="auto">
          <a:xfrm>
            <a:off x="1000125" y="20969288"/>
            <a:ext cx="19419888" cy="7943850"/>
            <a:chOff x="856" y="18608"/>
            <a:chExt cx="17252" cy="7067"/>
          </a:xfrm>
          <a:noFill/>
        </p:grpSpPr>
        <p:sp>
          <p:nvSpPr>
            <p:cNvPr id="2078" name="Rectangle 420"/>
            <p:cNvSpPr>
              <a:spLocks noChangeArrowheads="1"/>
            </p:cNvSpPr>
            <p:nvPr/>
          </p:nvSpPr>
          <p:spPr bwMode="auto">
            <a:xfrm>
              <a:off x="856" y="23203"/>
              <a:ext cx="17252" cy="24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Rectangle 421"/>
            <p:cNvSpPr>
              <a:spLocks noChangeArrowheads="1"/>
            </p:cNvSpPr>
            <p:nvPr/>
          </p:nvSpPr>
          <p:spPr bwMode="auto">
            <a:xfrm>
              <a:off x="4074" y="18608"/>
              <a:ext cx="911" cy="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80" name="Rectangle 422"/>
            <p:cNvSpPr>
              <a:spLocks noChangeArrowheads="1"/>
            </p:cNvSpPr>
            <p:nvPr/>
          </p:nvSpPr>
          <p:spPr bwMode="auto">
            <a:xfrm>
              <a:off x="4074" y="18608"/>
              <a:ext cx="911" cy="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054" name="Group 1872"/>
          <p:cNvGrpSpPr>
            <a:grpSpLocks/>
          </p:cNvGrpSpPr>
          <p:nvPr/>
        </p:nvGrpSpPr>
        <p:grpSpPr bwMode="auto">
          <a:xfrm>
            <a:off x="1285875" y="9917473"/>
            <a:ext cx="7300913" cy="6543316"/>
            <a:chOff x="1143" y="10596"/>
            <a:chExt cx="6486" cy="3953"/>
          </a:xfrm>
        </p:grpSpPr>
        <p:sp>
          <p:nvSpPr>
            <p:cNvPr id="2340" name="Rectangle 292"/>
            <p:cNvSpPr>
              <a:spLocks noChangeArrowheads="1"/>
            </p:cNvSpPr>
            <p:nvPr/>
          </p:nvSpPr>
          <p:spPr bwMode="auto">
            <a:xfrm>
              <a:off x="1143" y="10855"/>
              <a:ext cx="6486" cy="3694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64A70B"/>
              </a:solidFill>
              <a:miter lim="800000"/>
              <a:headEnd/>
              <a:tailEnd/>
            </a:ln>
            <a:effectLst>
              <a:outerShdw dist="224686" dir="2562563" algn="ctr" rotWithShape="0">
                <a:schemeClr val="tx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20" name="Text Box 372"/>
            <p:cNvSpPr txBox="1">
              <a:spLocks noChangeArrowheads="1"/>
            </p:cNvSpPr>
            <p:nvPr/>
          </p:nvSpPr>
          <p:spPr bwMode="auto">
            <a:xfrm>
              <a:off x="1704" y="10596"/>
              <a:ext cx="3860" cy="308"/>
            </a:xfrm>
            <a:prstGeom prst="rect">
              <a:avLst/>
            </a:prstGeom>
            <a:solidFill>
              <a:srgbClr val="64A70B"/>
            </a:solidFill>
            <a:ln w="9525">
              <a:solidFill>
                <a:srgbClr val="686300"/>
              </a:solidFill>
              <a:miter lim="800000"/>
              <a:headEnd/>
              <a:tailEnd/>
            </a:ln>
            <a:effectLst>
              <a:outerShdw dist="143684" dir="2700000" algn="ctr" rotWithShape="0">
                <a:schemeClr val="tx1"/>
              </a:outerShdw>
            </a:effectLst>
          </p:spPr>
          <p:txBody>
            <a:bodyPr wrap="square" lIns="64753" tIns="32375" rIns="64753" bIns="32375">
              <a:spAutoFit/>
            </a:bodyPr>
            <a:lstStyle/>
            <a:p>
              <a:pPr defTabSz="2087563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III. Research Questions</a:t>
              </a:r>
            </a:p>
          </p:txBody>
        </p:sp>
      </p:grpSp>
      <p:sp>
        <p:nvSpPr>
          <p:cNvPr id="2337" name="Rectangle 289"/>
          <p:cNvSpPr>
            <a:spLocks noChangeArrowheads="1"/>
          </p:cNvSpPr>
          <p:nvPr/>
        </p:nvSpPr>
        <p:spPr bwMode="auto">
          <a:xfrm>
            <a:off x="1383681" y="5811655"/>
            <a:ext cx="8951913" cy="3644900"/>
          </a:xfrm>
          <a:prstGeom prst="rect">
            <a:avLst/>
          </a:prstGeom>
          <a:ln w="76200">
            <a:solidFill>
              <a:srgbClr val="64A70B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45" name="Text Box 297"/>
          <p:cNvSpPr txBox="1">
            <a:spLocks noChangeArrowheads="1"/>
          </p:cNvSpPr>
          <p:nvPr/>
        </p:nvSpPr>
        <p:spPr bwMode="auto">
          <a:xfrm>
            <a:off x="1911011" y="5422942"/>
            <a:ext cx="4351844" cy="496270"/>
          </a:xfrm>
          <a:prstGeom prst="rect">
            <a:avLst/>
          </a:prstGeom>
          <a:solidFill>
            <a:srgbClr val="64A70B"/>
          </a:solidFill>
          <a:ln w="9525">
            <a:solidFill>
              <a:srgbClr val="64A70B"/>
            </a:solidFill>
            <a:miter lim="800000"/>
            <a:headEnd/>
            <a:tailEnd/>
          </a:ln>
          <a:effectLst>
            <a:outerShdw dist="161645" dir="2700000" algn="ctr" rotWithShape="0">
              <a:schemeClr val="tx1"/>
            </a:outerShdw>
          </a:effectLst>
        </p:spPr>
        <p:txBody>
          <a:bodyPr wrap="square" lIns="64753" tIns="32375" rIns="64753" bIns="32375">
            <a:spAutoFit/>
          </a:bodyPr>
          <a:lstStyle/>
          <a:p>
            <a:pPr defTabSz="2087563">
              <a:defRPr/>
            </a:pP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I. Introduction/Abstract</a:t>
            </a:r>
          </a:p>
        </p:txBody>
      </p:sp>
      <p:grpSp>
        <p:nvGrpSpPr>
          <p:cNvPr id="2057" name="Group 1813"/>
          <p:cNvGrpSpPr>
            <a:grpSpLocks/>
          </p:cNvGrpSpPr>
          <p:nvPr/>
        </p:nvGrpSpPr>
        <p:grpSpPr bwMode="auto">
          <a:xfrm>
            <a:off x="1285875" y="16716375"/>
            <a:ext cx="13201465" cy="10042322"/>
            <a:chOff x="1110" y="14320"/>
            <a:chExt cx="16592" cy="7893"/>
          </a:xfrm>
        </p:grpSpPr>
        <p:sp>
          <p:nvSpPr>
            <p:cNvPr id="2467" name="Rectangle 419"/>
            <p:cNvSpPr>
              <a:spLocks noChangeArrowheads="1"/>
            </p:cNvSpPr>
            <p:nvPr/>
          </p:nvSpPr>
          <p:spPr bwMode="auto">
            <a:xfrm>
              <a:off x="1110" y="14699"/>
              <a:ext cx="16592" cy="7514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64A70B"/>
              </a:solidFill>
              <a:miter lim="800000"/>
              <a:headEnd/>
              <a:tailEnd/>
            </a:ln>
            <a:effectLst>
              <a:outerShdw dist="320534" dir="3378596" algn="ctr" rotWithShape="0">
                <a:schemeClr val="tx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74" name="Text Box 426"/>
            <p:cNvSpPr txBox="1">
              <a:spLocks noChangeArrowheads="1"/>
            </p:cNvSpPr>
            <p:nvPr/>
          </p:nvSpPr>
          <p:spPr bwMode="auto">
            <a:xfrm>
              <a:off x="1757" y="14320"/>
              <a:ext cx="5520" cy="390"/>
            </a:xfrm>
            <a:prstGeom prst="rect">
              <a:avLst/>
            </a:prstGeom>
            <a:solidFill>
              <a:srgbClr val="64A70B"/>
            </a:solidFill>
            <a:ln w="9525">
              <a:solidFill>
                <a:srgbClr val="686300"/>
              </a:solidFill>
              <a:miter lim="800000"/>
              <a:headEnd/>
              <a:tailEnd/>
            </a:ln>
            <a:effectLst>
              <a:outerShdw dist="162639" dir="3080412" algn="ctr" rotWithShape="0">
                <a:schemeClr val="tx2"/>
              </a:outerShdw>
            </a:effectLst>
          </p:spPr>
          <p:txBody>
            <a:bodyPr wrap="square" lIns="64753" tIns="32375" rIns="64753" bIns="32375">
              <a:spAutoFit/>
            </a:bodyPr>
            <a:lstStyle/>
            <a:p>
              <a:pPr defTabSz="2087563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V. Results &amp; Discussion</a:t>
              </a:r>
            </a:p>
          </p:txBody>
        </p:sp>
      </p:grpSp>
      <p:grpSp>
        <p:nvGrpSpPr>
          <p:cNvPr id="2058" name="Group 1871"/>
          <p:cNvGrpSpPr>
            <a:grpSpLocks/>
          </p:cNvGrpSpPr>
          <p:nvPr/>
        </p:nvGrpSpPr>
        <p:grpSpPr bwMode="auto">
          <a:xfrm>
            <a:off x="10593388" y="5422942"/>
            <a:ext cx="9320212" cy="4116386"/>
            <a:chOff x="9707" y="6873"/>
            <a:chExt cx="7989" cy="3397"/>
          </a:xfrm>
        </p:grpSpPr>
        <p:sp>
          <p:nvSpPr>
            <p:cNvPr id="2339" name="Rectangle 291"/>
            <p:cNvSpPr>
              <a:spLocks noChangeArrowheads="1"/>
            </p:cNvSpPr>
            <p:nvPr/>
          </p:nvSpPr>
          <p:spPr bwMode="auto">
            <a:xfrm>
              <a:off x="9707" y="7206"/>
              <a:ext cx="7989" cy="3064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64A70B"/>
              </a:solidFill>
              <a:miter lim="800000"/>
              <a:headEnd/>
              <a:tailEnd/>
            </a:ln>
            <a:effectLst>
              <a:outerShdw dist="203200" dir="3378596" algn="ctr" rotWithShape="0">
                <a:schemeClr val="tx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19" name="Text Box 371"/>
            <p:cNvSpPr txBox="1">
              <a:spLocks noChangeArrowheads="1"/>
            </p:cNvSpPr>
            <p:nvPr/>
          </p:nvSpPr>
          <p:spPr bwMode="auto">
            <a:xfrm>
              <a:off x="10652" y="6873"/>
              <a:ext cx="2387" cy="410"/>
            </a:xfrm>
            <a:prstGeom prst="rect">
              <a:avLst/>
            </a:prstGeom>
            <a:solidFill>
              <a:srgbClr val="64A70B"/>
            </a:solidFill>
            <a:ln w="9525">
              <a:solidFill>
                <a:srgbClr val="64A70B"/>
              </a:solidFill>
              <a:miter lim="800000"/>
              <a:headEnd/>
              <a:tailEnd/>
            </a:ln>
            <a:effectLst>
              <a:outerShdw dist="179605" dir="2700000" algn="ctr" rotWithShape="0">
                <a:schemeClr val="tx1"/>
              </a:outerShdw>
            </a:effectLst>
          </p:spPr>
          <p:txBody>
            <a:bodyPr wrap="square" lIns="64753" tIns="32375" rIns="64753" bIns="32375">
              <a:spAutoFit/>
            </a:bodyPr>
            <a:lstStyle/>
            <a:p>
              <a:pPr defTabSz="2087563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II. Background</a:t>
              </a:r>
            </a:p>
          </p:txBody>
        </p:sp>
      </p:grpSp>
      <p:sp>
        <p:nvSpPr>
          <p:cNvPr id="2070" name="Rectangle 424"/>
          <p:cNvSpPr>
            <a:spLocks noChangeArrowheads="1"/>
          </p:cNvSpPr>
          <p:nvPr/>
        </p:nvSpPr>
        <p:spPr bwMode="auto">
          <a:xfrm>
            <a:off x="976312" y="27446850"/>
            <a:ext cx="19329727" cy="988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4753" tIns="32375" rIns="64753" bIns="32375" anchor="ctr">
            <a:spAutoFit/>
          </a:bodyPr>
          <a:lstStyle/>
          <a:p>
            <a:pPr marL="244475" indent="-244475" algn="just" defTabSz="646113">
              <a:tabLst>
                <a:tab pos="161925" algn="l"/>
              </a:tabLst>
            </a:pPr>
            <a:r>
              <a:rPr lang="en-US" sz="1500" b="1" u="sng" dirty="0"/>
              <a:t>References</a:t>
            </a:r>
            <a:r>
              <a:rPr lang="en-US" sz="1500" b="1" dirty="0"/>
              <a:t>:</a:t>
            </a:r>
          </a:p>
          <a:p>
            <a:pPr marL="244475" indent="-244475" algn="just" defTabSz="646113">
              <a:tabLst>
                <a:tab pos="161925" algn="l"/>
              </a:tabLst>
            </a:pPr>
            <a:r>
              <a:rPr lang="en-US" sz="1500" b="1" dirty="0"/>
              <a:t>[1] Sun, B.B., Chiou, J., Traylor, M. </a:t>
            </a:r>
            <a:r>
              <a:rPr lang="en-US" sz="1500" b="1" i="1" dirty="0"/>
              <a:t>et al.</a:t>
            </a:r>
            <a:r>
              <a:rPr lang="en-US" sz="1500" b="1" dirty="0"/>
              <a:t> Plasma proteomic associations with genetics and health in the UK Biobank. </a:t>
            </a:r>
            <a:r>
              <a:rPr lang="en-US" sz="1500" b="1" i="1" dirty="0"/>
              <a:t>Nature</a:t>
            </a:r>
            <a:r>
              <a:rPr lang="en-US" sz="1500" b="1" dirty="0"/>
              <a:t> 622, 329–338 (2023). </a:t>
            </a:r>
            <a:r>
              <a:rPr lang="en-US" sz="1500" b="1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https://doi.org/10.1038/s41586-023-06592-6</a:t>
            </a:r>
            <a:endParaRPr lang="en-US" sz="1500" b="1" u="sng" dirty="0"/>
          </a:p>
          <a:p>
            <a:pPr marL="244475" indent="-244475" algn="just" defTabSz="646113">
              <a:tabLst>
                <a:tab pos="161925" algn="l"/>
              </a:tabLst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[2] Hajar R. PCSK 9 Inhibitors: A Short History and a New Era of Lipid-lowering Therapy. Heart Views. 2019 Apr-Jun;20(2):74-75. doi: 10.4103/HEARTVIEWS.HEARTVIEWS_59_19. PMID: 31462965; PMCID: PMC6686613. </a:t>
            </a:r>
            <a:r>
              <a:rPr lang="en-US" sz="1500" b="1" u="sng" dirty="0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https://pmc.ncbi.nlm.nih.gov/articles/PMC6686613/</a:t>
            </a:r>
            <a:endParaRPr lang="en-US" sz="15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38" name="Rectangle 290"/>
          <p:cNvSpPr>
            <a:spLocks noChangeArrowheads="1"/>
          </p:cNvSpPr>
          <p:nvPr/>
        </p:nvSpPr>
        <p:spPr bwMode="auto">
          <a:xfrm>
            <a:off x="8913813" y="10345673"/>
            <a:ext cx="11006137" cy="6134165"/>
          </a:xfrm>
          <a:prstGeom prst="rect">
            <a:avLst/>
          </a:prstGeom>
          <a:solidFill>
            <a:schemeClr val="bg1"/>
          </a:solidFill>
          <a:ln w="76200">
            <a:solidFill>
              <a:srgbClr val="64A70B"/>
            </a:solidFill>
            <a:miter lim="800000"/>
            <a:headEnd/>
            <a:tailEnd/>
          </a:ln>
          <a:effectLst>
            <a:outerShdw dist="242633" dir="2572734" algn="ctr" rotWithShape="0">
              <a:schemeClr val="tx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52" name="Text Box 304"/>
          <p:cNvSpPr txBox="1">
            <a:spLocks noChangeArrowheads="1"/>
          </p:cNvSpPr>
          <p:nvPr/>
        </p:nvSpPr>
        <p:spPr bwMode="auto">
          <a:xfrm>
            <a:off x="9567523" y="9921749"/>
            <a:ext cx="3557360" cy="496270"/>
          </a:xfrm>
          <a:prstGeom prst="rect">
            <a:avLst/>
          </a:prstGeom>
          <a:solidFill>
            <a:srgbClr val="64A70B"/>
          </a:solidFill>
          <a:ln w="9525">
            <a:solidFill>
              <a:srgbClr val="686300"/>
            </a:solidFill>
            <a:miter lim="800000"/>
            <a:headEnd/>
            <a:tailEnd/>
          </a:ln>
          <a:effectLst>
            <a:outerShdw dist="179605" dir="2700000" algn="ctr" rotWithShape="0">
              <a:schemeClr val="tx1"/>
            </a:outerShdw>
          </a:effectLst>
        </p:spPr>
        <p:txBody>
          <a:bodyPr wrap="square" lIns="64753" tIns="32375" rIns="64753" bIns="32375">
            <a:spAutoFit/>
          </a:bodyPr>
          <a:lstStyle/>
          <a:p>
            <a:pPr defTabSz="2087563">
              <a:defRPr/>
            </a:pP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IV. Methodology</a:t>
            </a:r>
          </a:p>
        </p:txBody>
      </p:sp>
      <p:sp>
        <p:nvSpPr>
          <p:cNvPr id="2062" name="Text Box 1882"/>
          <p:cNvSpPr txBox="1">
            <a:spLocks noChangeArrowheads="1"/>
          </p:cNvSpPr>
          <p:nvPr/>
        </p:nvSpPr>
        <p:spPr bwMode="auto">
          <a:xfrm>
            <a:off x="3970960" y="8096566"/>
            <a:ext cx="6000638" cy="927183"/>
          </a:xfrm>
          <a:prstGeom prst="rect">
            <a:avLst/>
          </a:prstGeom>
          <a:noFill/>
          <a:ln w="228600" algn="ctr">
            <a:noFill/>
            <a:miter lim="800000"/>
            <a:headEnd/>
            <a:tailEnd/>
          </a:ln>
        </p:spPr>
        <p:txBody>
          <a:bodyPr wrap="square" lIns="64776" tIns="32388" rIns="64776" bIns="32388">
            <a:spAutoFit/>
          </a:bodyPr>
          <a:lstStyle/>
          <a:p>
            <a:pPr marL="285750" indent="-285750" algn="l" defTabSz="2087563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Plasma Proteomics Project in the UK Biobank (UKB-PPP)</a:t>
            </a:r>
          </a:p>
          <a:p>
            <a:pPr marL="285750" indent="-285750" algn="l" defTabSz="2087563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Protein quantitative trait loci (pQTL) are the genetic variants significantly associated with protein changes.</a:t>
            </a:r>
          </a:p>
        </p:txBody>
      </p:sp>
      <p:sp>
        <p:nvSpPr>
          <p:cNvPr id="2064" name="Text Box 1884"/>
          <p:cNvSpPr txBox="1">
            <a:spLocks noChangeArrowheads="1"/>
          </p:cNvSpPr>
          <p:nvPr/>
        </p:nvSpPr>
        <p:spPr bwMode="auto">
          <a:xfrm>
            <a:off x="1413222" y="13237213"/>
            <a:ext cx="7069758" cy="1450403"/>
          </a:xfrm>
          <a:prstGeom prst="rect">
            <a:avLst/>
          </a:prstGeom>
          <a:noFill/>
          <a:ln w="228600" algn="ctr">
            <a:noFill/>
            <a:miter lim="800000"/>
            <a:headEnd/>
            <a:tailEnd/>
          </a:ln>
        </p:spPr>
        <p:txBody>
          <a:bodyPr wrap="square" lIns="64776" tIns="32388" rIns="64776" bIns="32388">
            <a:spAutoFit/>
          </a:bodyPr>
          <a:lstStyle/>
          <a:p>
            <a:pPr algn="l" defTabSz="2087563">
              <a:spcBef>
                <a:spcPct val="50000"/>
              </a:spcBef>
            </a:pPr>
            <a:r>
              <a:rPr lang="en-US" sz="1800" b="1" dirty="0"/>
              <a:t>Objective</a:t>
            </a:r>
          </a:p>
          <a:p>
            <a:pPr marL="285750" indent="-285750" algn="l" defTabSz="2087563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The objective of this study is to understand the protein quantitative trait locus (pQTL) by studying the latest research results in UKB-PPP and investigating protein-trait causality through a Mendelian Randomization study [2].</a:t>
            </a:r>
          </a:p>
        </p:txBody>
      </p:sp>
      <p:sp>
        <p:nvSpPr>
          <p:cNvPr id="33" name="Text Box 1882"/>
          <p:cNvSpPr txBox="1">
            <a:spLocks noChangeArrowheads="1"/>
          </p:cNvSpPr>
          <p:nvPr/>
        </p:nvSpPr>
        <p:spPr bwMode="auto">
          <a:xfrm>
            <a:off x="10816841" y="8053173"/>
            <a:ext cx="5399999" cy="311630"/>
          </a:xfrm>
          <a:prstGeom prst="rect">
            <a:avLst/>
          </a:prstGeom>
          <a:noFill/>
          <a:ln w="228600" algn="ctr">
            <a:noFill/>
            <a:miter lim="800000"/>
            <a:headEnd/>
            <a:tailEnd/>
          </a:ln>
        </p:spPr>
        <p:txBody>
          <a:bodyPr wrap="square" lIns="64776" tIns="32388" rIns="64776" bIns="32388">
            <a:spAutoFit/>
          </a:bodyPr>
          <a:lstStyle/>
          <a:p>
            <a:pPr defTabSz="2087563">
              <a:spcBef>
                <a:spcPct val="50000"/>
              </a:spcBef>
            </a:pPr>
            <a:r>
              <a:rPr lang="en-US" sz="1600" b="1" dirty="0"/>
              <a:t>Figure 1 </a:t>
            </a:r>
            <a:r>
              <a:rPr lang="en-US" sz="1600" dirty="0"/>
              <a:t>illustrates cis- pQTL and trans- pQTL.</a:t>
            </a:r>
          </a:p>
        </p:txBody>
      </p:sp>
      <p:grpSp>
        <p:nvGrpSpPr>
          <p:cNvPr id="34" name="Group 1871"/>
          <p:cNvGrpSpPr>
            <a:grpSpLocks/>
          </p:cNvGrpSpPr>
          <p:nvPr/>
        </p:nvGrpSpPr>
        <p:grpSpPr bwMode="auto">
          <a:xfrm>
            <a:off x="15002127" y="16780220"/>
            <a:ext cx="5066657" cy="10106348"/>
            <a:chOff x="9707" y="6873"/>
            <a:chExt cx="7914" cy="4404"/>
          </a:xfrm>
        </p:grpSpPr>
        <p:sp>
          <p:nvSpPr>
            <p:cNvPr id="35" name="Rectangle 291"/>
            <p:cNvSpPr>
              <a:spLocks noChangeArrowheads="1"/>
            </p:cNvSpPr>
            <p:nvPr/>
          </p:nvSpPr>
          <p:spPr bwMode="auto">
            <a:xfrm>
              <a:off x="9707" y="7058"/>
              <a:ext cx="7914" cy="4219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rgbClr val="64A70B"/>
              </a:solidFill>
              <a:miter lim="800000"/>
              <a:headEnd/>
              <a:tailEnd/>
            </a:ln>
            <a:effectLst>
              <a:outerShdw dist="203200" dir="3378596" algn="ctr" rotWithShape="0">
                <a:schemeClr val="tx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Text Box 371"/>
            <p:cNvSpPr txBox="1">
              <a:spLocks noChangeArrowheads="1"/>
            </p:cNvSpPr>
            <p:nvPr/>
          </p:nvSpPr>
          <p:spPr bwMode="auto">
            <a:xfrm>
              <a:off x="10652" y="6873"/>
              <a:ext cx="4438" cy="219"/>
            </a:xfrm>
            <a:prstGeom prst="rect">
              <a:avLst/>
            </a:prstGeom>
            <a:solidFill>
              <a:srgbClr val="64A70B"/>
            </a:solidFill>
            <a:ln w="9525">
              <a:solidFill>
                <a:srgbClr val="64A70B"/>
              </a:solidFill>
              <a:miter lim="800000"/>
              <a:headEnd/>
              <a:tailEnd/>
            </a:ln>
            <a:effectLst>
              <a:outerShdw dist="179605" dir="2700000" algn="ctr" rotWithShape="0">
                <a:schemeClr val="tx1"/>
              </a:outerShdw>
            </a:effectLst>
          </p:spPr>
          <p:txBody>
            <a:bodyPr wrap="square" lIns="64753" tIns="32375" rIns="64753" bIns="32375">
              <a:spAutoFit/>
            </a:bodyPr>
            <a:lstStyle/>
            <a:p>
              <a:pPr defTabSz="2087563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VI. Conclusion</a:t>
              </a:r>
            </a:p>
          </p:txBody>
        </p:sp>
      </p:grpSp>
      <p:sp>
        <p:nvSpPr>
          <p:cNvPr id="37" name="Text Box 1882"/>
          <p:cNvSpPr txBox="1">
            <a:spLocks noChangeArrowheads="1"/>
          </p:cNvSpPr>
          <p:nvPr/>
        </p:nvSpPr>
        <p:spPr bwMode="auto">
          <a:xfrm>
            <a:off x="15100300" y="17842279"/>
            <a:ext cx="4819650" cy="3266285"/>
          </a:xfrm>
          <a:prstGeom prst="rect">
            <a:avLst/>
          </a:prstGeom>
          <a:noFill/>
          <a:ln w="228600" algn="ctr">
            <a:noFill/>
            <a:miter lim="800000"/>
            <a:headEnd/>
            <a:tailEnd/>
          </a:ln>
        </p:spPr>
        <p:txBody>
          <a:bodyPr wrap="square" lIns="64776" tIns="32388" rIns="64776" bIns="32388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Mendelian randomization assumptions II might be violated if the instrument is influenced by horizontal pleiotropy.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As a result, this could lead to invalid instrumental variables.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Robust Mendelian Randomization methods, such as IVW, Weighted Median, and MR-Egger, were used to address potential pleiotropy.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Weak instruments (SNPs with small effect sizes) can bias causal estimates.</a:t>
            </a:r>
          </a:p>
        </p:txBody>
      </p:sp>
      <p:pic>
        <p:nvPicPr>
          <p:cNvPr id="4" name="Picture 3" descr="A logo with blue letters&#10;&#10;Description automatically generated">
            <a:extLst>
              <a:ext uri="{FF2B5EF4-FFF2-40B4-BE49-F238E27FC236}">
                <a16:creationId xmlns:a16="http://schemas.microsoft.com/office/drawing/2014/main" id="{2BC5A6F2-9DB6-D826-76EB-F2B49C0B309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85" t="18530" r="18980" b="20008"/>
          <a:stretch/>
        </p:blipFill>
        <p:spPr>
          <a:xfrm>
            <a:off x="15002127" y="28913138"/>
            <a:ext cx="5990973" cy="1304748"/>
          </a:xfrm>
          <a:prstGeom prst="rect">
            <a:avLst/>
          </a:prstGeom>
        </p:spPr>
      </p:pic>
      <p:sp>
        <p:nvSpPr>
          <p:cNvPr id="2" name="Text Box 1887"/>
          <p:cNvSpPr txBox="1">
            <a:spLocks noChangeArrowheads="1"/>
          </p:cNvSpPr>
          <p:nvPr/>
        </p:nvSpPr>
        <p:spPr bwMode="auto">
          <a:xfrm>
            <a:off x="-731229" y="148536"/>
            <a:ext cx="26060400" cy="680962"/>
          </a:xfrm>
          <a:prstGeom prst="rect">
            <a:avLst/>
          </a:prstGeom>
          <a:noFill/>
          <a:ln w="228600" algn="ctr">
            <a:noFill/>
            <a:miter lim="800000"/>
            <a:headEnd/>
            <a:tailEnd/>
          </a:ln>
        </p:spPr>
        <p:txBody>
          <a:bodyPr wrap="square" lIns="64776" tIns="32388" rIns="64776" bIns="32388">
            <a:spAutoFit/>
          </a:bodyPr>
          <a:lstStyle/>
          <a:p>
            <a:pPr algn="l" defTabSz="2087563">
              <a:spcBef>
                <a:spcPct val="50000"/>
              </a:spcBef>
            </a:pPr>
            <a:endParaRPr lang="en-US" sz="4000" dirty="0">
              <a:highlight>
                <a:srgbClr val="FFFF00"/>
              </a:highlight>
            </a:endParaRPr>
          </a:p>
        </p:txBody>
      </p:sp>
      <p:pic>
        <p:nvPicPr>
          <p:cNvPr id="7" name="Picture 6" descr="A diagram of a transistor&#10;&#10;Description automatically generated">
            <a:extLst>
              <a:ext uri="{FF2B5EF4-FFF2-40B4-BE49-F238E27FC236}">
                <a16:creationId xmlns:a16="http://schemas.microsoft.com/office/drawing/2014/main" id="{50E4BFD3-69B8-A66E-4489-F18F9EEC5F87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1314" y="6250528"/>
            <a:ext cx="54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graph with blue dots and white text">
            <a:extLst>
              <a:ext uri="{FF2B5EF4-FFF2-40B4-BE49-F238E27FC236}">
                <a16:creationId xmlns:a16="http://schemas.microsoft.com/office/drawing/2014/main" id="{05E34182-D18A-DF64-7A76-873A4247252D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1" y="19288897"/>
            <a:ext cx="5130000" cy="3420000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5DAFA25-6BEB-4B4E-686D-05F1944C7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783073"/>
              </p:ext>
            </p:extLst>
          </p:nvPr>
        </p:nvGraphicFramePr>
        <p:xfrm>
          <a:off x="1327541" y="23892854"/>
          <a:ext cx="13066739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677">
                  <a:extLst>
                    <a:ext uri="{9D8B030D-6E8A-4147-A177-3AD203B41FA5}">
                      <a16:colId xmlns:a16="http://schemas.microsoft.com/office/drawing/2014/main" val="388074071"/>
                    </a:ext>
                  </a:extLst>
                </a:gridCol>
                <a:gridCol w="1866677">
                  <a:extLst>
                    <a:ext uri="{9D8B030D-6E8A-4147-A177-3AD203B41FA5}">
                      <a16:colId xmlns:a16="http://schemas.microsoft.com/office/drawing/2014/main" val="2151127179"/>
                    </a:ext>
                  </a:extLst>
                </a:gridCol>
                <a:gridCol w="1866677">
                  <a:extLst>
                    <a:ext uri="{9D8B030D-6E8A-4147-A177-3AD203B41FA5}">
                      <a16:colId xmlns:a16="http://schemas.microsoft.com/office/drawing/2014/main" val="944005088"/>
                    </a:ext>
                  </a:extLst>
                </a:gridCol>
                <a:gridCol w="1866677">
                  <a:extLst>
                    <a:ext uri="{9D8B030D-6E8A-4147-A177-3AD203B41FA5}">
                      <a16:colId xmlns:a16="http://schemas.microsoft.com/office/drawing/2014/main" val="2115709036"/>
                    </a:ext>
                  </a:extLst>
                </a:gridCol>
                <a:gridCol w="1866677">
                  <a:extLst>
                    <a:ext uri="{9D8B030D-6E8A-4147-A177-3AD203B41FA5}">
                      <a16:colId xmlns:a16="http://schemas.microsoft.com/office/drawing/2014/main" val="2569058420"/>
                    </a:ext>
                  </a:extLst>
                </a:gridCol>
                <a:gridCol w="1866677">
                  <a:extLst>
                    <a:ext uri="{9D8B030D-6E8A-4147-A177-3AD203B41FA5}">
                      <a16:colId xmlns:a16="http://schemas.microsoft.com/office/drawing/2014/main" val="1153293204"/>
                    </a:ext>
                  </a:extLst>
                </a:gridCol>
                <a:gridCol w="1866677">
                  <a:extLst>
                    <a:ext uri="{9D8B030D-6E8A-4147-A177-3AD203B41FA5}">
                      <a16:colId xmlns:a16="http://schemas.microsoft.com/office/drawing/2014/main" val="4195896842"/>
                    </a:ext>
                  </a:extLst>
                </a:gridCol>
              </a:tblGrid>
              <a:tr h="326220"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beta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se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Assumption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Interpretation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72607"/>
                  </a:ext>
                </a:extLst>
              </a:tr>
              <a:tr h="800722"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MR Egger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-0.1017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0.0696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0.145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Directional pleiotropy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Fail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No strong causal effect, possible pleiotropic bias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557878"/>
                  </a:ext>
                </a:extLst>
              </a:tr>
              <a:tr h="1037973"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Weighted median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-0.0486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0.0058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6.37 x 10^-17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At least 50% of the weight comes from valid instruments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Successful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Significant association. Robust to some invalid instruments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418887"/>
                  </a:ext>
                </a:extLst>
              </a:tr>
              <a:tr h="563471"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Inverse variance weighted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0.5581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0.0287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2.83 x 10^-84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All valid instruments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Successful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sz="1600" dirty="0">
                          <a:solidFill>
                            <a:schemeClr val="tx1"/>
                          </a:solidFill>
                        </a:rPr>
                        <a:t>Significant association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111192"/>
                  </a:ext>
                </a:extLst>
              </a:tr>
            </a:tbl>
          </a:graphicData>
        </a:graphic>
      </p:graphicFrame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CE4E99A9-1CCE-CF82-D79F-32BCB21DFFDC}"/>
              </a:ext>
            </a:extLst>
          </p:cNvPr>
          <p:cNvPicPr preferRelativeResize="0"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094" y="14502078"/>
            <a:ext cx="3600000" cy="1800000"/>
          </a:xfrm>
          <a:prstGeom prst="rect">
            <a:avLst/>
          </a:prstGeom>
          <a:noFill/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32C098E-CD17-3CCD-2677-026849CC410A}"/>
              </a:ext>
            </a:extLst>
          </p:cNvPr>
          <p:cNvPicPr preferRelativeResize="0"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094" y="14502078"/>
            <a:ext cx="3600000" cy="1800000"/>
          </a:xfrm>
          <a:prstGeom prst="rect">
            <a:avLst/>
          </a:prstGeom>
          <a:noFill/>
        </p:spPr>
      </p:pic>
      <p:pic>
        <p:nvPicPr>
          <p:cNvPr id="6" name="Picture 5" descr="A graph of a number of blue and red dots&#10;&#10;AI-generated content may be incorrect.">
            <a:extLst>
              <a:ext uri="{FF2B5EF4-FFF2-40B4-BE49-F238E27FC236}">
                <a16:creationId xmlns:a16="http://schemas.microsoft.com/office/drawing/2014/main" id="{4C3F745C-584A-8B09-6C10-E5CA28EFB9F8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222" y="18598880"/>
            <a:ext cx="3960000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graph of a graph">
            <a:extLst>
              <a:ext uri="{FF2B5EF4-FFF2-40B4-BE49-F238E27FC236}">
                <a16:creationId xmlns:a16="http://schemas.microsoft.com/office/drawing/2014/main" id="{23088CD7-82C9-332C-D3D5-7078C54CFBE8}"/>
              </a:ext>
            </a:extLst>
          </p:cNvPr>
          <p:cNvPicPr preferRelativeResize="0"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206" y="18592983"/>
            <a:ext cx="3960000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graph of numbers and lines">
            <a:extLst>
              <a:ext uri="{FF2B5EF4-FFF2-40B4-BE49-F238E27FC236}">
                <a16:creationId xmlns:a16="http://schemas.microsoft.com/office/drawing/2014/main" id="{2381ED07-5878-B149-47B0-2207330D76A5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222" y="21165445"/>
            <a:ext cx="3960000" cy="19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A graph of a function">
            <a:extLst>
              <a:ext uri="{FF2B5EF4-FFF2-40B4-BE49-F238E27FC236}">
                <a16:creationId xmlns:a16="http://schemas.microsoft.com/office/drawing/2014/main" id="{C95A22A7-C23D-E75B-E0C0-064FF0CA1DA6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222" y="21176351"/>
            <a:ext cx="396000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B6C5DB-2214-587F-95A6-485BDFAE2983}"/>
              </a:ext>
            </a:extLst>
          </p:cNvPr>
          <p:cNvSpPr txBox="1"/>
          <p:nvPr/>
        </p:nvSpPr>
        <p:spPr>
          <a:xfrm>
            <a:off x="1383680" y="18260326"/>
            <a:ext cx="7382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600" b="1" dirty="0"/>
              <a:t>Figure 4 and 5 </a:t>
            </a:r>
            <a:r>
              <a:rPr lang="en-SG" sz="1600" dirty="0"/>
              <a:t>illustrates Manhattan and QQ plot of </a:t>
            </a:r>
            <a:r>
              <a:rPr lang="en-SG" sz="1600" b="1" dirty="0"/>
              <a:t>pQTL PCSK9 </a:t>
            </a:r>
            <a:r>
              <a:rPr lang="en-SG" sz="1600" dirty="0"/>
              <a:t>respectively.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C18796-F282-0A30-D20E-B93FE2C1130C}"/>
              </a:ext>
            </a:extLst>
          </p:cNvPr>
          <p:cNvSpPr txBox="1"/>
          <p:nvPr/>
        </p:nvSpPr>
        <p:spPr>
          <a:xfrm>
            <a:off x="1413222" y="20829620"/>
            <a:ext cx="8366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600" b="1" dirty="0"/>
              <a:t>Figure 6 and 7 </a:t>
            </a:r>
            <a:r>
              <a:rPr lang="en-SG" sz="1600" dirty="0"/>
              <a:t>illustrates Manhattan and QQ plot of </a:t>
            </a:r>
            <a:r>
              <a:rPr lang="en-SG" sz="1600" b="1" dirty="0"/>
              <a:t>Triglycerides</a:t>
            </a:r>
            <a:r>
              <a:rPr lang="en-SG" sz="1600" dirty="0"/>
              <a:t> respectively.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9F0E10-99CC-107C-E588-29667B332B15}"/>
              </a:ext>
            </a:extLst>
          </p:cNvPr>
          <p:cNvSpPr txBox="1"/>
          <p:nvPr/>
        </p:nvSpPr>
        <p:spPr>
          <a:xfrm>
            <a:off x="16221314" y="14745575"/>
            <a:ext cx="35188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600" b="1" dirty="0"/>
              <a:t>Figure 3 </a:t>
            </a:r>
            <a:r>
              <a:rPr lang="en-SG" sz="1600" dirty="0"/>
              <a:t>illustrates that Mendelian Randomization relies on three core assumptions: </a:t>
            </a:r>
            <a:r>
              <a:rPr lang="en-SG" sz="1600" b="1" i="1" dirty="0"/>
              <a:t>relevance</a:t>
            </a:r>
            <a:r>
              <a:rPr lang="en-SG" sz="1600" b="1" dirty="0"/>
              <a:t>, </a:t>
            </a:r>
            <a:r>
              <a:rPr lang="en-SG" sz="1600" b="1" i="1" dirty="0"/>
              <a:t>independence</a:t>
            </a:r>
            <a:r>
              <a:rPr lang="en-SG" sz="1600" dirty="0"/>
              <a:t>, and </a:t>
            </a:r>
            <a:r>
              <a:rPr lang="en-SG" sz="1600" b="1" i="1" dirty="0"/>
              <a:t>exclusion restriction.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B192D8-668A-C635-9964-1D01ED391FCD}"/>
              </a:ext>
            </a:extLst>
          </p:cNvPr>
          <p:cNvSpPr txBox="1"/>
          <p:nvPr/>
        </p:nvSpPr>
        <p:spPr>
          <a:xfrm>
            <a:off x="9016881" y="18673344"/>
            <a:ext cx="5400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Figure 8 </a:t>
            </a:r>
            <a:r>
              <a:rPr lang="en-SG" sz="1600" dirty="0"/>
              <a:t>illustrates </a:t>
            </a:r>
            <a:r>
              <a:rPr lang="en-US" dirty="0"/>
              <a:t>MR Estimates with 95% Confidence Intervals against Beta</a:t>
            </a:r>
            <a:endParaRPr lang="en-S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9EFAA7-2157-932F-714C-81353D16E8B0}"/>
              </a:ext>
            </a:extLst>
          </p:cNvPr>
          <p:cNvSpPr txBox="1"/>
          <p:nvPr/>
        </p:nvSpPr>
        <p:spPr>
          <a:xfrm>
            <a:off x="1327541" y="23554300"/>
            <a:ext cx="5662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600" b="1" dirty="0"/>
              <a:t>Table 2 </a:t>
            </a:r>
            <a:r>
              <a:rPr lang="en-SG" sz="1600" dirty="0"/>
              <a:t>illustrates the test results for different criteria in MR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2903E03-F0FB-BE1E-1BA5-6DB1723D0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34948"/>
              </p:ext>
            </p:extLst>
          </p:nvPr>
        </p:nvGraphicFramePr>
        <p:xfrm>
          <a:off x="1413222" y="11133648"/>
          <a:ext cx="7069758" cy="1968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8959">
                  <a:extLst>
                    <a:ext uri="{9D8B030D-6E8A-4147-A177-3AD203B41FA5}">
                      <a16:colId xmlns:a16="http://schemas.microsoft.com/office/drawing/2014/main" val="4115409703"/>
                    </a:ext>
                  </a:extLst>
                </a:gridCol>
                <a:gridCol w="3540799">
                  <a:extLst>
                    <a:ext uri="{9D8B030D-6E8A-4147-A177-3AD203B41FA5}">
                      <a16:colId xmlns:a16="http://schemas.microsoft.com/office/drawing/2014/main" val="1591859460"/>
                    </a:ext>
                  </a:extLst>
                </a:gridCol>
              </a:tblGrid>
              <a:tr h="192794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Sample size</a:t>
                      </a: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+mj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54,219 UK Biobank participants</a:t>
                      </a:r>
                      <a:endParaRPr lang="en-SG" sz="1600" b="0" dirty="0">
                        <a:solidFill>
                          <a:schemeClr val="tx1"/>
                        </a:solidFill>
                        <a:effectLst/>
                        <a:latin typeface="+mj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979422"/>
                  </a:ext>
                </a:extLst>
              </a:tr>
              <a:tr h="192794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Protein count</a:t>
                      </a: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+mj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2,923 unique proteins</a:t>
                      </a: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+mj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99942"/>
                  </a:ext>
                </a:extLst>
              </a:tr>
              <a:tr h="412781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Primary genetic associations identified</a:t>
                      </a: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+mj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14,287</a:t>
                      </a: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+mj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045031"/>
                  </a:ext>
                </a:extLst>
              </a:tr>
              <a:tr h="192794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Proportion of novel associations</a:t>
                      </a: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+mj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Approximately 81%</a:t>
                      </a: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+mj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417865"/>
                  </a:ext>
                </a:extLst>
              </a:tr>
              <a:tr h="192794"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Platform used</a:t>
                      </a: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+mj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Olink Explore 3072</a:t>
                      </a: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+mj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03890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9EE04E4-5710-B082-D10D-86C65A9BFFF0}"/>
              </a:ext>
            </a:extLst>
          </p:cNvPr>
          <p:cNvSpPr txBox="1"/>
          <p:nvPr/>
        </p:nvSpPr>
        <p:spPr>
          <a:xfrm>
            <a:off x="1395380" y="10795094"/>
            <a:ext cx="4872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1600" b="1" dirty="0"/>
              <a:t>Table 1 illustrates the sample size of UKB-PPP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34DC301-842A-C87F-03EA-38EAA21AC6FA}"/>
              </a:ext>
            </a:extLst>
          </p:cNvPr>
          <p:cNvPicPr preferRelativeResize="0"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1482725" y="6396946"/>
            <a:ext cx="2160000" cy="720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275B48F-F0A3-1341-C114-B173FFB9612B}"/>
              </a:ext>
            </a:extLst>
          </p:cNvPr>
          <p:cNvPicPr preferRelativeResize="0"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3970960" y="6215679"/>
            <a:ext cx="3600000" cy="1800000"/>
          </a:xfrm>
          <a:prstGeom prst="rect">
            <a:avLst/>
          </a:prstGeom>
        </p:spPr>
      </p:pic>
      <p:pic>
        <p:nvPicPr>
          <p:cNvPr id="15" name="Picture 14" descr="A graph with red and blue lines">
            <a:extLst>
              <a:ext uri="{FF2B5EF4-FFF2-40B4-BE49-F238E27FC236}">
                <a16:creationId xmlns:a16="http://schemas.microsoft.com/office/drawing/2014/main" id="{AFC75562-6433-8B71-925D-CEEAA5234510}"/>
              </a:ext>
            </a:extLst>
          </p:cNvPr>
          <p:cNvPicPr preferRelativeResize="0">
            <a:picLocks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315" y="12594561"/>
            <a:ext cx="54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9D64899-8E70-AF8B-8FC7-99B54EA784C1}"/>
              </a:ext>
            </a:extLst>
          </p:cNvPr>
          <p:cNvSpPr txBox="1"/>
          <p:nvPr/>
        </p:nvSpPr>
        <p:spPr>
          <a:xfrm>
            <a:off x="16221314" y="13079062"/>
            <a:ext cx="35188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/>
              <a:t>Figure 2 </a:t>
            </a:r>
            <a:r>
              <a:rPr lang="en-US" sz="1600" dirty="0"/>
              <a:t>illustrates the results of </a:t>
            </a:r>
            <a:r>
              <a:rPr lang="en-US" sz="1600" b="1" dirty="0"/>
              <a:t>FUMA</a:t>
            </a:r>
            <a:r>
              <a:rPr lang="en-US" sz="1600" dirty="0"/>
              <a:t> (Functional Mapping and Annotation of Genetic Associations).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F4E7A5-3CEE-015E-3EB3-886AACD0B86C}"/>
              </a:ext>
            </a:extLst>
          </p:cNvPr>
          <p:cNvSpPr txBox="1"/>
          <p:nvPr/>
        </p:nvSpPr>
        <p:spPr>
          <a:xfrm>
            <a:off x="1395380" y="1755604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b="1" dirty="0"/>
              <a:t>GWAS Results and Mendelian Randomization</a:t>
            </a:r>
          </a:p>
        </p:txBody>
      </p:sp>
      <p:sp>
        <p:nvSpPr>
          <p:cNvPr id="47" name="Flowchart: Process 46">
            <a:extLst>
              <a:ext uri="{FF2B5EF4-FFF2-40B4-BE49-F238E27FC236}">
                <a16:creationId xmlns:a16="http://schemas.microsoft.com/office/drawing/2014/main" id="{1EF477B3-A6DE-5C66-972A-23EB4CEA432D}"/>
              </a:ext>
            </a:extLst>
          </p:cNvPr>
          <p:cNvSpPr/>
          <p:nvPr/>
        </p:nvSpPr>
        <p:spPr bwMode="auto">
          <a:xfrm>
            <a:off x="15904555" y="21527316"/>
            <a:ext cx="2880000" cy="720000"/>
          </a:xfrm>
          <a:prstGeom prst="flowChartProcess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GWAS Results</a:t>
            </a: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444FD462-5E0A-0104-3C53-532463B4C76A}"/>
              </a:ext>
            </a:extLst>
          </p:cNvPr>
          <p:cNvSpPr/>
          <p:nvPr/>
        </p:nvSpPr>
        <p:spPr bwMode="auto">
          <a:xfrm>
            <a:off x="16986021" y="22244270"/>
            <a:ext cx="720000" cy="360000"/>
          </a:xfrm>
          <a:prstGeom prst="downArrow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F34788E9-DF0F-922F-3739-891736A1D99D}"/>
              </a:ext>
            </a:extLst>
          </p:cNvPr>
          <p:cNvSpPr/>
          <p:nvPr/>
        </p:nvSpPr>
        <p:spPr bwMode="auto">
          <a:xfrm>
            <a:off x="15904555" y="22601224"/>
            <a:ext cx="2880000" cy="720000"/>
          </a:xfrm>
          <a:prstGeom prst="flowChartProcess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Manhattan Plot and QQ Plot</a:t>
            </a: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90CE8A9C-4AA4-4ABD-E1A1-F92A04098AD7}"/>
              </a:ext>
            </a:extLst>
          </p:cNvPr>
          <p:cNvSpPr/>
          <p:nvPr/>
        </p:nvSpPr>
        <p:spPr bwMode="auto">
          <a:xfrm>
            <a:off x="16982376" y="23324765"/>
            <a:ext cx="720000" cy="360000"/>
          </a:xfrm>
          <a:prstGeom prst="downArrow">
            <a:avLst/>
          </a:prstGeom>
          <a:solidFill>
            <a:schemeClr val="lt1"/>
          </a:solidFill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3" name="Flowchart: Process 52">
            <a:extLst>
              <a:ext uri="{FF2B5EF4-FFF2-40B4-BE49-F238E27FC236}">
                <a16:creationId xmlns:a16="http://schemas.microsoft.com/office/drawing/2014/main" id="{508FE6CA-6332-BC0F-5237-AD89EF35CE82}"/>
              </a:ext>
            </a:extLst>
          </p:cNvPr>
          <p:cNvSpPr/>
          <p:nvPr/>
        </p:nvSpPr>
        <p:spPr bwMode="auto">
          <a:xfrm>
            <a:off x="15902376" y="23684765"/>
            <a:ext cx="2880000" cy="720000"/>
          </a:xfrm>
          <a:prstGeom prst="flowChartProcess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FUMA functional annotation</a:t>
            </a:r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8A39A097-7999-57FF-60E8-9C58B4539B04}"/>
              </a:ext>
            </a:extLst>
          </p:cNvPr>
          <p:cNvSpPr/>
          <p:nvPr/>
        </p:nvSpPr>
        <p:spPr bwMode="auto">
          <a:xfrm>
            <a:off x="16982376" y="24403926"/>
            <a:ext cx="720000" cy="360000"/>
          </a:xfrm>
          <a:prstGeom prst="downArrow">
            <a:avLst/>
          </a:prstGeom>
          <a:solidFill>
            <a:schemeClr val="lt1"/>
          </a:solidFill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Flowchart: Process 54">
            <a:extLst>
              <a:ext uri="{FF2B5EF4-FFF2-40B4-BE49-F238E27FC236}">
                <a16:creationId xmlns:a16="http://schemas.microsoft.com/office/drawing/2014/main" id="{7E74C999-FB51-9ACA-6D28-FDF60F190EFE}"/>
              </a:ext>
            </a:extLst>
          </p:cNvPr>
          <p:cNvSpPr/>
          <p:nvPr/>
        </p:nvSpPr>
        <p:spPr bwMode="auto">
          <a:xfrm>
            <a:off x="15902376" y="24763087"/>
            <a:ext cx="2880000" cy="720000"/>
          </a:xfrm>
          <a:prstGeom prst="flowChartProcess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Mendelian Randomization</a:t>
            </a:r>
          </a:p>
        </p:txBody>
      </p:sp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E0110539-601A-7BFD-FCDF-9A85895C34D9}"/>
              </a:ext>
            </a:extLst>
          </p:cNvPr>
          <p:cNvSpPr/>
          <p:nvPr/>
        </p:nvSpPr>
        <p:spPr bwMode="auto">
          <a:xfrm>
            <a:off x="15100300" y="25842248"/>
            <a:ext cx="4813300" cy="720000"/>
          </a:xfrm>
          <a:prstGeom prst="flowChartProcess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1600" b="1" dirty="0">
                <a:solidFill>
                  <a:schemeClr val="tx1"/>
                </a:solidFill>
                <a:latin typeface="Arial" charset="0"/>
              </a:rPr>
              <a:t>Result: PCSK9 may not directly influence</a:t>
            </a:r>
          </a:p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SG" sz="1600" b="1" dirty="0">
                <a:solidFill>
                  <a:schemeClr val="tx1"/>
                </a:solidFill>
                <a:latin typeface="Arial" charset="0"/>
              </a:rPr>
              <a:t>TG levels</a:t>
            </a:r>
            <a:endParaRPr kumimoji="0" lang="en-SG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03A295A-35BD-0B28-7493-BFFDC26C4BE4}"/>
              </a:ext>
            </a:extLst>
          </p:cNvPr>
          <p:cNvSpPr/>
          <p:nvPr/>
        </p:nvSpPr>
        <p:spPr bwMode="auto">
          <a:xfrm>
            <a:off x="16982376" y="25483087"/>
            <a:ext cx="720000" cy="360000"/>
          </a:xfrm>
          <a:prstGeom prst="downArrow">
            <a:avLst/>
          </a:prstGeom>
          <a:solidFill>
            <a:schemeClr val="lt1"/>
          </a:solidFill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id="{A243A1A1-F549-46A8-FBF6-9E04CDEB533C}"/>
              </a:ext>
            </a:extLst>
          </p:cNvPr>
          <p:cNvSpPr/>
          <p:nvPr/>
        </p:nvSpPr>
        <p:spPr bwMode="auto">
          <a:xfrm>
            <a:off x="9016881" y="10679497"/>
            <a:ext cx="1800000" cy="720000"/>
          </a:xfrm>
          <a:prstGeom prst="flowChartProcess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 programming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A77166D-9FBC-A526-40B6-A4704F1B6BAA}"/>
              </a:ext>
            </a:extLst>
          </p:cNvPr>
          <p:cNvSpPr/>
          <p:nvPr/>
        </p:nvSpPr>
        <p:spPr bwMode="auto">
          <a:xfrm>
            <a:off x="10935902" y="10993516"/>
            <a:ext cx="180000" cy="90000"/>
          </a:xfrm>
          <a:prstGeom prst="rightArrow">
            <a:avLst/>
          </a:prstGeom>
          <a:solidFill>
            <a:schemeClr val="accent2"/>
          </a:solidFill>
          <a:ln w="2286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2E506C40-8F69-7F32-D47B-1EC850661D32}"/>
              </a:ext>
            </a:extLst>
          </p:cNvPr>
          <p:cNvSpPr/>
          <p:nvPr/>
        </p:nvSpPr>
        <p:spPr bwMode="auto">
          <a:xfrm>
            <a:off x="11278354" y="10679497"/>
            <a:ext cx="5400000" cy="720000"/>
          </a:xfrm>
          <a:prstGeom prst="flowChartProcess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Manhattan and QQ Plot of PCSK9 and Triglycerides</a:t>
            </a:r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23B2E300-A42D-A685-1F4D-6DC971DA1741}"/>
              </a:ext>
            </a:extLst>
          </p:cNvPr>
          <p:cNvSpPr/>
          <p:nvPr/>
        </p:nvSpPr>
        <p:spPr bwMode="auto">
          <a:xfrm>
            <a:off x="17092694" y="10679497"/>
            <a:ext cx="2700000" cy="720000"/>
          </a:xfrm>
          <a:prstGeom prst="flowChartProcess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Genome-wide Significance</a:t>
            </a:r>
          </a:p>
          <a:p>
            <a:pPr defTabSz="2087563"/>
            <a:r>
              <a:rPr lang="en-SG" sz="1600" b="1" dirty="0">
                <a:solidFill>
                  <a:schemeClr val="tx1"/>
                </a:solidFill>
                <a:latin typeface="Arial" charset="0"/>
              </a:rPr>
              <a:t>of </a:t>
            </a:r>
            <a:r>
              <a:rPr lang="en-SG" sz="1600" b="1" dirty="0"/>
              <a:t>P &lt; 1.7 × </a:t>
            </a:r>
            <a:r>
              <a:rPr lang="en-SG" b="1" dirty="0"/>
              <a:t>10</a:t>
            </a:r>
            <a:r>
              <a:rPr lang="en-SG" b="1" baseline="30000" dirty="0"/>
              <a:t>−11</a:t>
            </a:r>
            <a:endParaRPr kumimoji="0" lang="en-SG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782774B-FBAD-504E-0323-F1A65F767BB8}"/>
              </a:ext>
            </a:extLst>
          </p:cNvPr>
          <p:cNvSpPr/>
          <p:nvPr/>
        </p:nvSpPr>
        <p:spPr bwMode="auto">
          <a:xfrm>
            <a:off x="16788769" y="10993516"/>
            <a:ext cx="180000" cy="90000"/>
          </a:xfrm>
          <a:prstGeom prst="rightArrow">
            <a:avLst/>
          </a:prstGeom>
          <a:solidFill>
            <a:schemeClr val="accent2"/>
          </a:solidFill>
          <a:ln w="2286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" name="Flowchart: Process 57">
            <a:extLst>
              <a:ext uri="{FF2B5EF4-FFF2-40B4-BE49-F238E27FC236}">
                <a16:creationId xmlns:a16="http://schemas.microsoft.com/office/drawing/2014/main" id="{D9A18C2A-1A9E-361F-90AA-0CE2E793F3AB}"/>
              </a:ext>
            </a:extLst>
          </p:cNvPr>
          <p:cNvSpPr/>
          <p:nvPr/>
        </p:nvSpPr>
        <p:spPr bwMode="auto">
          <a:xfrm>
            <a:off x="9016881" y="11542789"/>
            <a:ext cx="1800000" cy="720000"/>
          </a:xfrm>
          <a:prstGeom prst="flowChartProcess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 programming</a:t>
            </a: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7181D737-F91D-A93E-48C4-DDB68C534F63}"/>
              </a:ext>
            </a:extLst>
          </p:cNvPr>
          <p:cNvSpPr/>
          <p:nvPr/>
        </p:nvSpPr>
        <p:spPr bwMode="auto">
          <a:xfrm>
            <a:off x="10935902" y="11856808"/>
            <a:ext cx="180000" cy="90000"/>
          </a:xfrm>
          <a:prstGeom prst="rightArrow">
            <a:avLst/>
          </a:prstGeom>
          <a:solidFill>
            <a:schemeClr val="accent2"/>
          </a:solidFill>
          <a:ln w="2286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0" name="Flowchart: Process 59">
            <a:extLst>
              <a:ext uri="{FF2B5EF4-FFF2-40B4-BE49-F238E27FC236}">
                <a16:creationId xmlns:a16="http://schemas.microsoft.com/office/drawing/2014/main" id="{D6FD35C4-5619-E9E1-2D15-B5DC38BCD562}"/>
              </a:ext>
            </a:extLst>
          </p:cNvPr>
          <p:cNvSpPr/>
          <p:nvPr/>
        </p:nvSpPr>
        <p:spPr bwMode="auto">
          <a:xfrm>
            <a:off x="11278354" y="11542789"/>
            <a:ext cx="3600000" cy="720000"/>
          </a:xfrm>
          <a:prstGeom prst="flowChartProcess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Mendelian Randomization (MR)</a:t>
            </a:r>
          </a:p>
        </p:txBody>
      </p: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0B68318F-F333-B226-A14C-520EAD82F03A}"/>
              </a:ext>
            </a:extLst>
          </p:cNvPr>
          <p:cNvSpPr/>
          <p:nvPr/>
        </p:nvSpPr>
        <p:spPr bwMode="auto">
          <a:xfrm>
            <a:off x="15321315" y="11542789"/>
            <a:ext cx="4320000" cy="720000"/>
          </a:xfrm>
          <a:prstGeom prst="flowChartProcess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The causality between the exposure (</a:t>
            </a:r>
            <a:r>
              <a:rPr lang="en-SG" sz="1600" b="1" dirty="0">
                <a:solidFill>
                  <a:schemeClr val="tx1"/>
                </a:solidFill>
                <a:latin typeface="Arial" charset="0"/>
              </a:rPr>
              <a:t>PCSK9) </a:t>
            </a:r>
            <a:br>
              <a:rPr lang="en-SG" sz="1600" b="1" dirty="0">
                <a:solidFill>
                  <a:schemeClr val="tx1"/>
                </a:solidFill>
                <a:latin typeface="Arial" charset="0"/>
              </a:rPr>
            </a:br>
            <a:r>
              <a:rPr kumimoji="0" lang="en-SG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and outcome (TG)</a:t>
            </a:r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C40DCBA0-16F1-FB90-34B4-42297190AEB1}"/>
              </a:ext>
            </a:extLst>
          </p:cNvPr>
          <p:cNvSpPr/>
          <p:nvPr/>
        </p:nvSpPr>
        <p:spPr bwMode="auto">
          <a:xfrm>
            <a:off x="15002127" y="11856808"/>
            <a:ext cx="180000" cy="90000"/>
          </a:xfrm>
          <a:prstGeom prst="rightArrow">
            <a:avLst/>
          </a:prstGeom>
          <a:solidFill>
            <a:schemeClr val="accent2"/>
          </a:solidFill>
          <a:ln w="2286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47004C7-289B-5E1F-916F-BDC81118554D}"/>
              </a:ext>
            </a:extLst>
          </p:cNvPr>
          <p:cNvSpPr txBox="1"/>
          <p:nvPr/>
        </p:nvSpPr>
        <p:spPr>
          <a:xfrm>
            <a:off x="16225787" y="6215679"/>
            <a:ext cx="32836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In (a) and (b), the pQTL is located within 1 MB of Protein 1 or Protein 2 on the same chromosome; therefore, it is a </a:t>
            </a:r>
            <a:r>
              <a:rPr lang="en-US" sz="1600" b="1" dirty="0"/>
              <a:t>cis- pQTL </a:t>
            </a:r>
            <a:r>
              <a:rPr lang="en-US" sz="1600" dirty="0"/>
              <a:t>[1].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In (c), the pQTL is located on a different chromosome from the targeted protein. It is a </a:t>
            </a:r>
            <a:r>
              <a:rPr lang="en-US" sz="1600" b="1" dirty="0"/>
              <a:t>trans- pQTL</a:t>
            </a:r>
            <a:r>
              <a:rPr lang="en-US" sz="1600" dirty="0"/>
              <a:t> [1].</a:t>
            </a:r>
            <a:endParaRPr lang="en-SG" sz="16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7238EB-95A0-24DF-49E2-2F90125DC63C}"/>
              </a:ext>
            </a:extLst>
          </p:cNvPr>
          <p:cNvSpPr/>
          <p:nvPr/>
        </p:nvSpPr>
        <p:spPr bwMode="auto">
          <a:xfrm>
            <a:off x="2774707" y="14688934"/>
            <a:ext cx="1440000" cy="7200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PCSK9</a:t>
            </a:r>
            <a:r>
              <a:rPr kumimoji="0" 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</a:t>
            </a:r>
            <a:endParaRPr kumimoji="0" lang="en-SG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5B3FF68-AD32-135B-BC9C-86226468DDE5}"/>
              </a:ext>
            </a:extLst>
          </p:cNvPr>
          <p:cNvSpPr/>
          <p:nvPr/>
        </p:nvSpPr>
        <p:spPr bwMode="auto">
          <a:xfrm>
            <a:off x="2542479" y="15766106"/>
            <a:ext cx="1800000" cy="3600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Triglyceride</a:t>
            </a:r>
            <a:endParaRPr kumimoji="0" lang="en-SG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8380EA5-0834-B2E6-F40A-7AF311F8980F}"/>
              </a:ext>
            </a:extLst>
          </p:cNvPr>
          <p:cNvSpPr/>
          <p:nvPr/>
        </p:nvSpPr>
        <p:spPr bwMode="auto">
          <a:xfrm>
            <a:off x="3092167" y="15406413"/>
            <a:ext cx="720000" cy="360000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20875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2286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20875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2286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20875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4481</TotalTime>
  <Words>673</Words>
  <Application>Microsoft Office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Default Design</vt:lpstr>
      <vt:lpstr>PowerPoint Presentation</vt:lpstr>
    </vt:vector>
  </TitlesOfParts>
  <Company>Institute of 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leventy</dc:creator>
  <cp:lastModifiedBy># NG PEI MING (SST)</cp:lastModifiedBy>
  <cp:revision>277</cp:revision>
  <dcterms:created xsi:type="dcterms:W3CDTF">2004-09-17T01:10:23Z</dcterms:created>
  <dcterms:modified xsi:type="dcterms:W3CDTF">2025-10-13T07:22:04Z</dcterms:modified>
</cp:coreProperties>
</file>